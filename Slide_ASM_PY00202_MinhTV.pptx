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178" y="-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2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8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34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7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6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8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6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3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26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5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9457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6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0015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94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54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1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79608-FA98-4C03-8D9B-C5C46EEBD8A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B901DC4-1EAD-4C02-9D7F-B3C3A63EA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2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7070/NewsPortal_PY00202/index.jsp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9F5D03-CDF0-1551-636A-BC9E62D078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r>
              <a:rPr lang="en-US" sz="6600"/>
              <a:t>ASSIGNMENT</a:t>
            </a:r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48A0D11-F132-6436-5455-672E95063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Montserrat" pitchFamily="2" charset="0"/>
              </a:rPr>
              <a:t>LẬP TRÌNH JAVA 3</a:t>
            </a:r>
          </a:p>
          <a:p>
            <a:r>
              <a:rPr lang="en-US" sz="2400">
                <a:latin typeface="Montserrat" pitchFamily="2" charset="0"/>
              </a:rPr>
              <a:t>Sinh viên thực hiện:  Trần Văn Minh – PY00202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CE6C07-1095-A3AA-698B-3DEDA0EB5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972" y="18015"/>
            <a:ext cx="2980055" cy="101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F46B-89E5-AAEB-A48C-D18AA79C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latin typeface="Aptos" panose="020B0004020202020204" pitchFamily="34" charset="0"/>
              </a:rPr>
              <a:t>Nội dung trình bày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62989-3EDC-93BE-9066-C90A8C402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2400">
                <a:latin typeface="Montserrat" pitchFamily="2" charset="0"/>
              </a:rPr>
              <a:t>Giới thiệu đề tài</a:t>
            </a:r>
          </a:p>
          <a:p>
            <a:pPr>
              <a:lnSpc>
                <a:spcPct val="170000"/>
              </a:lnSpc>
            </a:pPr>
            <a:r>
              <a:rPr lang="en-US" sz="2400">
                <a:latin typeface="Montserrat" pitchFamily="2" charset="0"/>
              </a:rPr>
              <a:t>Mục tiêu và công nghệ sử dụng</a:t>
            </a:r>
          </a:p>
          <a:p>
            <a:pPr>
              <a:lnSpc>
                <a:spcPct val="170000"/>
              </a:lnSpc>
            </a:pPr>
            <a:r>
              <a:rPr lang="en-US" sz="2400">
                <a:latin typeface="Montserrat" pitchFamily="2" charset="0"/>
              </a:rPr>
              <a:t>Phân tích yêu cầu &amp; Use Case tổng quan</a:t>
            </a:r>
          </a:p>
          <a:p>
            <a:pPr>
              <a:lnSpc>
                <a:spcPct val="170000"/>
              </a:lnSpc>
            </a:pPr>
            <a:r>
              <a:rPr lang="en-US" sz="2400">
                <a:latin typeface="Montserrat" pitchFamily="2" charset="0"/>
              </a:rPr>
              <a:t>Kiến trúc phần mềm</a:t>
            </a:r>
          </a:p>
          <a:p>
            <a:pPr>
              <a:lnSpc>
                <a:spcPct val="170000"/>
              </a:lnSpc>
            </a:pPr>
            <a:r>
              <a:rPr lang="en-US" sz="2400">
                <a:latin typeface="Montserrat" pitchFamily="2" charset="0"/>
              </a:rPr>
              <a:t>Thiết kế cơ sở dữ liệu</a:t>
            </a:r>
          </a:p>
          <a:p>
            <a:pPr>
              <a:lnSpc>
                <a:spcPct val="170000"/>
              </a:lnSpc>
            </a:pPr>
            <a:r>
              <a:rPr lang="en-US" sz="2400">
                <a:latin typeface="Montserrat" pitchFamily="2" charset="0"/>
              </a:rPr>
              <a:t>Thiết kế lớp và các thành phần chính</a:t>
            </a:r>
          </a:p>
          <a:p>
            <a:pPr>
              <a:lnSpc>
                <a:spcPct val="170000"/>
              </a:lnSpc>
            </a:pPr>
            <a:r>
              <a:rPr lang="en-US" sz="2400">
                <a:latin typeface="Montserrat" pitchFamily="2" charset="0"/>
              </a:rPr>
              <a:t>Demo chương trình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BBC8E6-8B23-301C-DAD1-25AF795609DF}"/>
              </a:ext>
            </a:extLst>
          </p:cNvPr>
          <p:cNvCxnSpPr>
            <a:stCxn id="2" idx="1"/>
          </p:cNvCxnSpPr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41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91872-698E-D84E-74CE-FD0BF6AB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Aptos" panose="020B0004020202020204" pitchFamily="34" charset="0"/>
              </a:rPr>
              <a:t>Giới thiệu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EFDCD-DB21-D226-FE63-4D9ADB6C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12" y="1488613"/>
            <a:ext cx="8596668" cy="388077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Doanh nghiệp ABC News muốn xây dựng lại hệ thống tin tức Online</a:t>
            </a:r>
          </a:p>
          <a:p>
            <a:pPr algn="just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Hệ thống cũ không đáp ứng yêu cầu mới </a:t>
            </a:r>
            <a:r>
              <a:rPr lang="en-US" b="0" i="0">
                <a:effectLst/>
                <a:latin typeface="Montserrat" pitchFamily="2" charset="0"/>
              </a:rPr>
              <a:t>→</a:t>
            </a:r>
            <a:r>
              <a:rPr lang="en-US">
                <a:latin typeface="Montserrat" pitchFamily="2" charset="0"/>
              </a:rPr>
              <a:t> cần phát triển website mới theo mô hình MVC</a:t>
            </a:r>
          </a:p>
          <a:p>
            <a:pPr algn="just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Ứng dụng hướng đến 3 đối tượng người dùng</a:t>
            </a:r>
          </a:p>
          <a:p>
            <a:pPr lvl="1" algn="just">
              <a:lnSpc>
                <a:spcPct val="150000"/>
              </a:lnSpc>
            </a:pPr>
            <a:r>
              <a:rPr lang="en-US" sz="2000">
                <a:latin typeface="Montserrat" pitchFamily="2" charset="0"/>
              </a:rPr>
              <a:t>Độc giả: Xem tin, tìm kiếm, đăng ký nhận bản tin</a:t>
            </a:r>
          </a:p>
          <a:p>
            <a:pPr lvl="1" algn="just">
              <a:lnSpc>
                <a:spcPct val="150000"/>
              </a:lnSpc>
            </a:pPr>
            <a:r>
              <a:rPr lang="en-US" sz="2000">
                <a:latin typeface="Montserrat" pitchFamily="2" charset="0"/>
              </a:rPr>
              <a:t>Phóng viên: Đăng nhập, đăng/sửa/xóa tin của mình</a:t>
            </a:r>
          </a:p>
          <a:p>
            <a:pPr lvl="1" algn="just">
              <a:lnSpc>
                <a:spcPct val="150000"/>
              </a:lnSpc>
            </a:pPr>
            <a:r>
              <a:rPr lang="en-US" sz="2000">
                <a:latin typeface="Montserrat" pitchFamily="2" charset="0"/>
              </a:rPr>
              <a:t>Quản trị viên: quản lý người dùng, loại tin, tin tức., newsletter</a:t>
            </a:r>
          </a:p>
          <a:p>
            <a:pPr algn="just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Mục tiêu: Xây dựng Web tin tức động hoàn chỉnh sử dụng Servlet/JSP + JDBC + SQL Server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C1073-14AD-016A-D29F-2747883A214A}"/>
              </a:ext>
            </a:extLst>
          </p:cNvPr>
          <p:cNvCxnSpPr/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32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3F3A-224F-A069-327C-A8468DF1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Aptos" panose="020B0004020202020204" pitchFamily="34" charset="0"/>
              </a:rPr>
              <a:t>Mục tiêu và công nghệ sử dụng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ABA52-C4D5-6528-3C8A-CAB8C7326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>
                <a:latin typeface="Montserrat" pitchFamily="2" charset="0"/>
              </a:rPr>
              <a:t>MỤC TIÊU</a:t>
            </a:r>
          </a:p>
          <a:p>
            <a:pPr lvl="1">
              <a:lnSpc>
                <a:spcPct val="150000"/>
              </a:lnSpc>
            </a:pPr>
            <a:r>
              <a:rPr lang="en-US" sz="2400">
                <a:latin typeface="Montserrat" pitchFamily="2" charset="0"/>
              </a:rPr>
              <a:t>Tổ chức ứng dụng theo mô hình MVC</a:t>
            </a:r>
          </a:p>
          <a:p>
            <a:pPr lvl="1">
              <a:lnSpc>
                <a:spcPct val="150000"/>
              </a:lnSpc>
            </a:pPr>
            <a:r>
              <a:rPr lang="en-US" sz="2400">
                <a:latin typeface="Montserrat" pitchFamily="2" charset="0"/>
              </a:rPr>
              <a:t>Quản lý thư viện bằng Maven</a:t>
            </a:r>
          </a:p>
          <a:p>
            <a:pPr lvl="1">
              <a:lnSpc>
                <a:spcPct val="150000"/>
              </a:lnSpc>
            </a:pPr>
            <a:r>
              <a:rPr lang="en-US" sz="2400">
                <a:latin typeface="Montserrat" pitchFamily="2" charset="0"/>
              </a:rPr>
              <a:t>Kết nối và thao tác dữ liệu bằng JDBC</a:t>
            </a:r>
          </a:p>
          <a:p>
            <a:pPr lvl="1">
              <a:lnSpc>
                <a:spcPct val="150000"/>
              </a:lnSpc>
            </a:pPr>
            <a:r>
              <a:rPr lang="en-US" sz="2400">
                <a:latin typeface="Montserrat" pitchFamily="2" charset="0"/>
              </a:rPr>
              <a:t>Áp dụng các kỹ thuật Servlet, JSP, JSTL…</a:t>
            </a:r>
          </a:p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5213FD-BFB5-18D2-5304-B04FFE530752}"/>
              </a:ext>
            </a:extLst>
          </p:cNvPr>
          <p:cNvCxnSpPr/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97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229B-94A8-6D70-49C4-221B2710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atin typeface="Aptos" panose="020B0004020202020204" pitchFamily="34" charset="0"/>
              </a:rPr>
              <a:t>Mục tiêu và công nghệ sử dụng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84C75-88FC-3E69-2DD1-2FB66C5F9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CÔNG NGHỆ SỬ DỤNG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IDE: Eclipse IDE for Enterprise Java and Web Developers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Server: Tomcat 11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Database: SQL Server 2022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JDK (Java Development Kit): 24 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Thư viện: Jakarta Servlet API, JSTL, BeanUtils</a:t>
            </a:r>
          </a:p>
          <a:p>
            <a:pPr lvl="1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55EFDC-7963-7E28-0A09-8BFCBA272AB0}"/>
              </a:ext>
            </a:extLst>
          </p:cNvPr>
          <p:cNvCxnSpPr/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206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8235-93B2-0FB5-69D2-F02B0D60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PHÂN TÍCH YÊU CẦU VÀ USECASE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BDAE-BB8E-D1AB-C3B6-1C765134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CÁC VAI TRÒ CHÍNH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Độc giả: xem tin, đăng ký nhận tin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Phóng viên: Quản lý tin tức cá nhân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Quản trị viên: Quản lý người dùng, loại tin, tất cả tin tức, newsletter.</a:t>
            </a:r>
          </a:p>
          <a:p>
            <a:pPr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USE CASE CHÍNH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Độc giả: Xem tin, Đăng ký nhận tin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Phóng viên: Đăng nhập, Quản lý tin</a:t>
            </a:r>
          </a:p>
          <a:p>
            <a:pPr lvl="1">
              <a:lnSpc>
                <a:spcPct val="150000"/>
              </a:lnSpc>
            </a:pPr>
            <a:r>
              <a:rPr lang="en-US">
                <a:latin typeface="Montserrat" pitchFamily="2" charset="0"/>
              </a:rPr>
              <a:t>Quản trị viên: Đăng nhập, Quản lý người dùng, loại tin, newsletter.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C3EFB8-4BFD-E29A-1CE8-B378D06FDBD2}"/>
              </a:ext>
            </a:extLst>
          </p:cNvPr>
          <p:cNvCxnSpPr/>
          <p:nvPr/>
        </p:nvCxnSpPr>
        <p:spPr>
          <a:xfrm>
            <a:off x="677334" y="1779047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04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3DCD-0AAB-35C8-BB87-147949DD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USE CASE  TỔNG QUAN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B4CC85-A262-7B5A-2E0F-041A6A9E278A}"/>
              </a:ext>
            </a:extLst>
          </p:cNvPr>
          <p:cNvCxnSpPr/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01FACD4-23C1-B203-82D0-C4DB70DA48B5}"/>
              </a:ext>
            </a:extLst>
          </p:cNvPr>
          <p:cNvSpPr txBox="1"/>
          <p:nvPr/>
        </p:nvSpPr>
        <p:spPr>
          <a:xfrm>
            <a:off x="2462077" y="6248400"/>
            <a:ext cx="4005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Ghi chú: CRUD =  Create, Read, Update, Delete</a:t>
            </a:r>
          </a:p>
        </p:txBody>
      </p:sp>
      <p:pic>
        <p:nvPicPr>
          <p:cNvPr id="30" name="Content Placeholder 29">
            <a:extLst>
              <a:ext uri="{FF2B5EF4-FFF2-40B4-BE49-F238E27FC236}">
                <a16:creationId xmlns:a16="http://schemas.microsoft.com/office/drawing/2014/main" id="{794BC3B3-DC93-46E2-EA01-A275ED85D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632687"/>
            <a:ext cx="9052589" cy="4615713"/>
          </a:xfrm>
        </p:spPr>
      </p:pic>
    </p:spTree>
    <p:extLst>
      <p:ext uri="{BB962C8B-B14F-4D97-AF65-F5344CB8AC3E}">
        <p14:creationId xmlns:p14="http://schemas.microsoft.com/office/powerpoint/2010/main" val="64813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3499-8E8E-BE85-B3FA-C886769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KIẾN TRÚC PHẦN MỀM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E170F1-5346-4AA8-67EB-545759CDE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05" y="2050592"/>
            <a:ext cx="9177339" cy="3416955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FCAFEE-D92E-D181-C54F-FDF05A28CDE3}"/>
              </a:ext>
            </a:extLst>
          </p:cNvPr>
          <p:cNvCxnSpPr/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206602-DD81-B4B3-246B-7B945C5A3D61}"/>
              </a:ext>
            </a:extLst>
          </p:cNvPr>
          <p:cNvSpPr txBox="1"/>
          <p:nvPr/>
        </p:nvSpPr>
        <p:spPr>
          <a:xfrm>
            <a:off x="3566762" y="5879068"/>
            <a:ext cx="304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2" charset="0"/>
              </a:rPr>
              <a:t>Sơ đồ kiến trúc hệ thống</a:t>
            </a:r>
          </a:p>
        </p:txBody>
      </p:sp>
    </p:spTree>
    <p:extLst>
      <p:ext uri="{BB962C8B-B14F-4D97-AF65-F5344CB8AC3E}">
        <p14:creationId xmlns:p14="http://schemas.microsoft.com/office/powerpoint/2010/main" val="1900648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D064-97EE-73EA-8EB8-CE678C48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THIẾT KẾ CƠ SỞ DỮ LIỆU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B28C5A-4301-BC91-7E24-13E69C8FE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151506"/>
            <a:ext cx="9550748" cy="5096894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3C6AEE-62B3-7FAE-0234-657277A93C4E}"/>
              </a:ext>
            </a:extLst>
          </p:cNvPr>
          <p:cNvCxnSpPr/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F6B583-0DD2-713B-8AF2-2E3D57C87699}"/>
              </a:ext>
            </a:extLst>
          </p:cNvPr>
          <p:cNvSpPr txBox="1"/>
          <p:nvPr/>
        </p:nvSpPr>
        <p:spPr>
          <a:xfrm>
            <a:off x="1218956" y="6127646"/>
            <a:ext cx="7293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2" charset="0"/>
              </a:rPr>
              <a:t>Database Relationship Diagram – Sơ đồ cơ sở dữ liệu quan hệ</a:t>
            </a:r>
          </a:p>
        </p:txBody>
      </p:sp>
    </p:spTree>
    <p:extLst>
      <p:ext uri="{BB962C8B-B14F-4D97-AF65-F5344CB8AC3E}">
        <p14:creationId xmlns:p14="http://schemas.microsoft.com/office/powerpoint/2010/main" val="3602181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52D2-1A8B-A4BF-C57D-CE53004E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THIẾT KẾ LỚP MODEL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709706-7ACE-D122-444C-586BA1105000}"/>
              </a:ext>
            </a:extLst>
          </p:cNvPr>
          <p:cNvCxnSpPr/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B4C9BD9D-EC7D-8FDE-1475-4634EB438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2" y="1395167"/>
            <a:ext cx="9173147" cy="4619133"/>
          </a:xfrm>
        </p:spPr>
      </p:pic>
    </p:spTree>
    <p:extLst>
      <p:ext uri="{BB962C8B-B14F-4D97-AF65-F5344CB8AC3E}">
        <p14:creationId xmlns:p14="http://schemas.microsoft.com/office/powerpoint/2010/main" val="225168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D2D7-D92A-4B75-4D5C-405A45B5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676E9-2BD6-82D2-3755-DCF33928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THIẾT KẾ LỚP DAO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E51CD1-F96D-AB03-A5E6-3A06A0276E0C}"/>
              </a:ext>
            </a:extLst>
          </p:cNvPr>
          <p:cNvCxnSpPr/>
          <p:nvPr/>
        </p:nvCxnSpPr>
        <p:spPr>
          <a:xfrm>
            <a:off x="677334" y="1270000"/>
            <a:ext cx="8824885" cy="30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6B4A77-450A-CF1D-BE6C-124D2DFDB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89435"/>
            <a:ext cx="9645018" cy="5162615"/>
          </a:xfrm>
        </p:spPr>
      </p:pic>
    </p:spTree>
    <p:extLst>
      <p:ext uri="{BB962C8B-B14F-4D97-AF65-F5344CB8AC3E}">
        <p14:creationId xmlns:p14="http://schemas.microsoft.com/office/powerpoint/2010/main" val="3528289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5D67-D8C5-2B5E-E3FC-8C526F56D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DEMO CHƯƠNG TRÌNH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F26A89-6086-767C-09B3-A765F13CC7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http://localhost:7070/NewsPortal_PY00202/index.jsp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8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A142F7-6460-4836-A8E8-6C0449466A6B}">
  <we:reference id="wa200008583" version="1.0.0.1" store="en-US" storeType="OMEX"/>
  <we:alternateReferences>
    <we:reference id="WA20000858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366</TotalTime>
  <Words>417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Montserrat</vt:lpstr>
      <vt:lpstr>Trebuchet MS</vt:lpstr>
      <vt:lpstr>Wingdings 3</vt:lpstr>
      <vt:lpstr>Facet</vt:lpstr>
      <vt:lpstr>ASSIGNMENT</vt:lpstr>
      <vt:lpstr>Nội dung trình bày</vt:lpstr>
      <vt:lpstr>Giới thiệu đề tài</vt:lpstr>
      <vt:lpstr>Mục tiêu và công nghệ sử dụng</vt:lpstr>
      <vt:lpstr>Mục tiêu và công nghệ sử dụng</vt:lpstr>
      <vt:lpstr>PHÂN TÍCH YÊU CẦU VÀ USECASE TỔNG QUAN</vt:lpstr>
      <vt:lpstr>USE CASE  TỔNG QUAN</vt:lpstr>
      <vt:lpstr>KIẾN TRÚC PHẦN MỀM</vt:lpstr>
      <vt:lpstr>THIẾT KẾ CƠ SỞ DỮ LIỆU</vt:lpstr>
      <vt:lpstr>THIẾT KẾ LỚP MODEL</vt:lpstr>
      <vt:lpstr>THIẾT KẾ LỚP DAO</vt:lpstr>
      <vt:lpstr>DEMO CHƯƠNG TRÌNH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Tran</dc:creator>
  <cp:lastModifiedBy>Minh Tran</cp:lastModifiedBy>
  <cp:revision>14</cp:revision>
  <dcterms:created xsi:type="dcterms:W3CDTF">2025-10-26T08:03:15Z</dcterms:created>
  <dcterms:modified xsi:type="dcterms:W3CDTF">2025-10-28T14:13:17Z</dcterms:modified>
</cp:coreProperties>
</file>